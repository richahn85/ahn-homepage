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삼성전자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유형자산 비중</c:v>
              </c:pt>
              <c:pt idx="1">
                <c:v>설비투자 / 매출</c:v>
              </c:pt>
            </c:strLit>
          </c:cat>
          <c:val>
            <c:numLit>
              <c:formatCode>General</c:formatCode>
              <c:ptCount val="2"/>
              <c:pt idx="0">
                <c:v>38</c:v>
              </c:pt>
              <c:pt idx="1">
                <c:v>15.8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8D-41C7-AFC2-089BD1575F5F}"/>
            </c:ext>
          </c:extLst>
        </c:ser>
        <c:ser>
          <c:idx val="1"/>
          <c:order val="1"/>
          <c:tx>
            <c:v>애플</c:v>
          </c:tx>
          <c:spPr>
            <a:solidFill>
              <a:srgbClr val="DC262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유형자산 비중</c:v>
              </c:pt>
              <c:pt idx="1">
                <c:v>설비투자 / 매출</c:v>
              </c:pt>
            </c:strLit>
          </c:cat>
          <c:val>
            <c:numLit>
              <c:formatCode>General</c:formatCode>
              <c:ptCount val="2"/>
              <c:pt idx="0">
                <c:v>13.9</c:v>
              </c:pt>
              <c:pt idx="1">
                <c:v>3.1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8D-41C7-AFC2-089BD1575F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유형자산회전율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삼성전자</c:v>
              </c:pt>
              <c:pt idx="1">
                <c:v>애플</c:v>
              </c:pt>
            </c:strLit>
          </c:cat>
          <c:val>
            <c:numLit>
              <c:formatCode>General</c:formatCode>
              <c:ptCount val="2"/>
              <c:pt idx="0">
                <c:v>1.55</c:v>
              </c:pt>
              <c:pt idx="1">
                <c:v>8.35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87E-467F-B41D-1DFF89AB3D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주주환원 / 순이익</c:v>
          </c:tx>
          <c:spPr>
            <a:solidFill>
              <a:srgbClr val="DC262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삼성전자</c:v>
              </c:pt>
              <c:pt idx="1">
                <c:v>애플</c:v>
              </c:pt>
            </c:strLit>
          </c:cat>
          <c:val>
            <c:numLit>
              <c:formatCode>General</c:formatCode>
              <c:ptCount val="2"/>
              <c:pt idx="0">
                <c:v>40</c:v>
              </c:pt>
              <c:pt idx="1">
                <c:v>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7D6-4568-9FBC-100079D8C33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도입 질문: 삼성의 열세를 제품·마케팅만으로 설명해 왔다면, 이제 재무제표가 드러내는 시스템 차이를 함께 본다.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논문의 전체 논지를 네 숫자로 압축한다. 숫자 자체보다 자본 배분의 철학을 강조한다.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유형자산 비중과 설비투자율을 비교한다. 애플의 유형자산에는 매장·데이터센터·사옥·임차자산이 주로 포함된다.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감가상각비와 영업이익이 우연히 같은 규모라는 점은 장치산업의 구조적 부담을 직관적으로 보여준다.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유형자산회전율은 매출/유형자산. 논문은 삼성 1.55회, 애플 8.35회를 제시한다.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부채비율 해석의 함정을 설명한다. 애플 총부채 중 이자부 차입금 비중과 마이너스 현금전환주기를 함께 제시한다.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듀폰 분해: ROE = 순이익률 × 총자산회전율 × 재무레버리지. 애플의 높은 ROE를 수익성·효율성·레버리지로 분해한다.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사이클 산업에서 자기자본의 완충 기능을 설명한다. 논문의 2023년 삼성전자 수치를 사용한다.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애플의 주주환원과 자사주 소각, 삼성의 유보 전략을 비교한다.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논문의 주주자본주의 분석을 교수님의 People First 철학으로 확장한 해석 슬라이드다. 이 부분은 원문의 직접 주장이라기보다 강의 적용을 위한 해석임을 밝혀 설명한다.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2026년 상법 개정과 삼성의 자사주 소각, AI 설비 경쟁 속 애플의 제조 기반 투자 확대를 대비한다.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 질문을 통해 제품 판매량이나 시가총액만이 아니라 지속가능한 기업 시스템의 목적을 토론하게 한다.</a:t>
            </a:r>
          </a:p>
          <a:p>
            <a:endParaRPr/>
          </a:p>
          <a:p>
            <a:r>
              <a:t>[Sources]</a:t>
            </a:r>
          </a:p>
          <a:p>
            <a:r>
              <a:t>- 신현한, 「삼성전자와 애플, 두 자본주의의 재무제표」, J Commentary 제21호, 2026.8.20.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573559-E163-4BBA-A1FC-0E190EAA3ED5}"/>
              </a:ext>
            </a:extLst>
          </p:cNvPr>
          <p:cNvSpPr>
            <a:spLocks noGrp="1"/>
          </p:cNvSpPr>
          <p:nvPr/>
        </p:nvSpPr>
        <p:spPr>
          <a:xfrm>
            <a:off x="571500" y="514350"/>
            <a:ext cx="609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93C5F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93C5FD"/>
                </a:solidFill>
                <a:latin typeface="Noto Sans KR"/>
                <a:ea typeface="Noto Sans KR"/>
                <a:cs typeface="Noto Sans KR"/>
              </a:rPr>
              <a:t>15년 강의에 던지는 새로운 질문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D5E0BF-63A9-43AE-B10B-85A74248156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65722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삼성은 왜 애플을</a:t>
            </a:r>
          </a:p>
          <a:p>
            <a:pPr algn="l"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이기기 어려운가?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A81E5B-98CF-46FE-849C-CB65FCA4797A}"/>
              </a:ext>
            </a:extLst>
          </p:cNvPr>
          <p:cNvSpPr>
            <a:spLocks noGrp="1"/>
          </p:cNvSpPr>
          <p:nvPr/>
        </p:nvSpPr>
        <p:spPr>
          <a:xfrm>
            <a:off x="571500" y="3219450"/>
            <a:ext cx="6477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기술의 격차가 아니라</a:t>
            </a:r>
          </a:p>
          <a:p>
            <a:pPr algn="l">
              <a:defRPr sz="19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자본·위험·보상의 시스템 차이로 다시 읽다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9197569-15B5-4896-ABBF-D9DC6BCF645A}"/>
              </a:ext>
            </a:extLst>
          </p:cNvPr>
          <p:cNvSpPr>
            <a:spLocks noGrp="1"/>
          </p:cNvSpPr>
          <p:nvPr/>
        </p:nvSpPr>
        <p:spPr>
          <a:xfrm>
            <a:off x="8096250" y="819150"/>
            <a:ext cx="3143250" cy="4953000"/>
          </a:xfrm>
          <a:prstGeom prst="roundRect">
            <a:avLst>
              <a:gd name="adj" fmla="val 2424"/>
            </a:avLst>
          </a:prstGeom>
          <a:solidFill>
            <a:srgbClr val="17255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DA1355-EAF9-4595-88D6-AFA1712A80E0}"/>
              </a:ext>
            </a:extLst>
          </p:cNvPr>
          <p:cNvSpPr>
            <a:spLocks noGrp="1"/>
          </p:cNvSpPr>
          <p:nvPr/>
        </p:nvSpPr>
        <p:spPr>
          <a:xfrm>
            <a:off x="8429625" y="14287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60A5F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0A5FA"/>
                </a:solidFill>
                <a:latin typeface="Noto Sans KR"/>
                <a:ea typeface="Noto Sans KR"/>
                <a:cs typeface="Noto Sans KR"/>
              </a:rPr>
              <a:t>SAMSUNG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0160F7-F274-4455-87BA-A0E07E8D0DAF}"/>
              </a:ext>
            </a:extLst>
          </p:cNvPr>
          <p:cNvSpPr>
            <a:spLocks noGrp="1"/>
          </p:cNvSpPr>
          <p:nvPr/>
        </p:nvSpPr>
        <p:spPr>
          <a:xfrm>
            <a:off x="8429625" y="2095500"/>
            <a:ext cx="24765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공장</a:t>
            </a:r>
          </a:p>
          <a:p>
            <a:pPr algn="ctr">
              <a:def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유보</a:t>
            </a:r>
          </a:p>
          <a:p>
            <a:pPr algn="ctr">
              <a:def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회복력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D183DB-4385-4FEC-86D3-E13F5A77839D}"/>
              </a:ext>
            </a:extLst>
          </p:cNvPr>
          <p:cNvSpPr>
            <a:spLocks noGrp="1"/>
          </p:cNvSpPr>
          <p:nvPr/>
        </p:nvSpPr>
        <p:spPr>
          <a:xfrm>
            <a:off x="8667750" y="4048125"/>
            <a:ext cx="2000250" cy="1905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F1181E-88EC-48B3-8CEE-6619D64A84B9}"/>
              </a:ext>
            </a:extLst>
          </p:cNvPr>
          <p:cNvSpPr>
            <a:spLocks noGrp="1"/>
          </p:cNvSpPr>
          <p:nvPr/>
        </p:nvSpPr>
        <p:spPr>
          <a:xfrm>
            <a:off x="8429625" y="4429125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F8717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87171"/>
                </a:solidFill>
                <a:latin typeface="Noto Sans KR"/>
                <a:ea typeface="Noto Sans KR"/>
                <a:cs typeface="Noto Sans KR"/>
              </a:rPr>
              <a:t>APPLE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90C8EE-8902-4A43-9E96-CA649A905A3E}"/>
              </a:ext>
            </a:extLst>
          </p:cNvPr>
          <p:cNvSpPr>
            <a:spLocks noGrp="1"/>
          </p:cNvSpPr>
          <p:nvPr/>
        </p:nvSpPr>
        <p:spPr>
          <a:xfrm>
            <a:off x="8429625" y="495300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설계</a:t>
            </a:r>
          </a:p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소각</a:t>
            </a:r>
          </a:p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자본효율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9D6A13-F25E-456A-8193-CEDE452F2D76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3B9A20-5A5D-C08A-7C66-CAD8EA46772C}"/>
              </a:ext>
            </a:extLst>
          </p:cNvPr>
          <p:cNvSpPr txBox="1"/>
          <p:nvPr/>
        </p:nvSpPr>
        <p:spPr>
          <a:xfrm>
            <a:off x="692729" y="6437738"/>
            <a:ext cx="46682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출처 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 err="1">
                <a:solidFill>
                  <a:schemeClr val="bg1"/>
                </a:solidFill>
              </a:rPr>
              <a:t>신현한</a:t>
            </a:r>
            <a:r>
              <a:rPr lang="en-US" altLang="ko-KR" sz="1050" dirty="0">
                <a:solidFill>
                  <a:schemeClr val="bg1"/>
                </a:solidFill>
              </a:rPr>
              <a:t>_ (</a:t>
            </a:r>
            <a:r>
              <a:rPr lang="ko-KR" altLang="en-US" sz="1050" dirty="0">
                <a:solidFill>
                  <a:schemeClr val="bg1"/>
                </a:solidFill>
              </a:rPr>
              <a:t>연세대학교 경영대학 교수</a:t>
            </a:r>
            <a:r>
              <a:rPr lang="en-US" altLang="ko-KR" sz="1050" dirty="0">
                <a:solidFill>
                  <a:schemeClr val="bg1"/>
                </a:solidFill>
              </a:rPr>
              <a:t>) , J commentary 2026. 8. 20 (</a:t>
            </a:r>
            <a:r>
              <a:rPr lang="ko-KR" altLang="en-US" sz="1050" dirty="0">
                <a:solidFill>
                  <a:schemeClr val="bg1"/>
                </a:solidFill>
              </a:rPr>
              <a:t>제</a:t>
            </a:r>
            <a:r>
              <a:rPr lang="en-US" altLang="ko-KR" sz="1050" dirty="0">
                <a:solidFill>
                  <a:schemeClr val="bg1"/>
                </a:solidFill>
              </a:rPr>
              <a:t>21</a:t>
            </a:r>
            <a:r>
              <a:rPr lang="ko-KR" altLang="en-US" sz="1050" dirty="0">
                <a:solidFill>
                  <a:schemeClr val="bg1"/>
                </a:solidFill>
              </a:rPr>
              <a:t>호</a:t>
            </a:r>
            <a:r>
              <a:rPr lang="en-US" altLang="ko-KR" sz="1050" dirty="0">
                <a:solidFill>
                  <a:schemeClr val="bg1"/>
                </a:solidFill>
              </a:rPr>
              <a:t>)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89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7FD65A-1DCB-4BC5-B4EB-16C64C4B9F1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C3708D-8882-40FC-92A0-F4CEF3644F95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두 회사의 재무제표는 서로 다른 자본주의의 설계도다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A09932-BE75-4F57-9A33-E8305D4FCDEB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DF52F86-4633-465D-8365-7E6A5C526DC8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2428875" cy="142875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A90CD7-4B35-47B3-8AC7-E941EF4CE5B8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38%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0DCC65-D266-41B2-8A5D-49A3B1ACBF16}"/>
              </a:ext>
            </a:extLst>
          </p:cNvPr>
          <p:cNvSpPr>
            <a:spLocks noGrp="1"/>
          </p:cNvSpPr>
          <p:nvPr/>
        </p:nvSpPr>
        <p:spPr>
          <a:xfrm>
            <a:off x="704850" y="25336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삼성: 유형자산 / 총자산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C8F5333-960F-409B-B594-D3FD5DB71087}"/>
              </a:ext>
            </a:extLst>
          </p:cNvPr>
          <p:cNvSpPr>
            <a:spLocks noGrp="1"/>
          </p:cNvSpPr>
          <p:nvPr/>
        </p:nvSpPr>
        <p:spPr>
          <a:xfrm>
            <a:off x="3105150" y="1619250"/>
            <a:ext cx="2428875" cy="142875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FE82F2-A89F-4B5E-A885-DC2031E1682E}"/>
              </a:ext>
            </a:extLst>
          </p:cNvPr>
          <p:cNvSpPr>
            <a:spLocks noGrp="1"/>
          </p:cNvSpPr>
          <p:nvPr/>
        </p:nvSpPr>
        <p:spPr>
          <a:xfrm>
            <a:off x="3295650" y="1790700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13.9%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082318-6B1D-4A15-B864-452906FE4C2C}"/>
              </a:ext>
            </a:extLst>
          </p:cNvPr>
          <p:cNvSpPr>
            <a:spLocks noGrp="1"/>
          </p:cNvSpPr>
          <p:nvPr/>
        </p:nvSpPr>
        <p:spPr>
          <a:xfrm>
            <a:off x="3295650" y="25336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애플: 유형자산 / 총자산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663E54-9AC7-44B7-84AA-2564D829D1C2}"/>
              </a:ext>
            </a:extLst>
          </p:cNvPr>
          <p:cNvSpPr>
            <a:spLocks noGrp="1"/>
          </p:cNvSpPr>
          <p:nvPr/>
        </p:nvSpPr>
        <p:spPr>
          <a:xfrm>
            <a:off x="5695950" y="1619250"/>
            <a:ext cx="2428875" cy="142875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B6DE9C-8756-4CC1-A1C3-5CC8E5AE0103}"/>
              </a:ext>
            </a:extLst>
          </p:cNvPr>
          <p:cNvSpPr>
            <a:spLocks noGrp="1"/>
          </p:cNvSpPr>
          <p:nvPr/>
        </p:nvSpPr>
        <p:spPr>
          <a:xfrm>
            <a:off x="5886450" y="1790700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D8DD3F-2FA9-4364-9309-EE3B023C6ADF}"/>
              </a:ext>
            </a:extLst>
          </p:cNvPr>
          <p:cNvSpPr>
            <a:spLocks noGrp="1"/>
          </p:cNvSpPr>
          <p:nvPr/>
        </p:nvSpPr>
        <p:spPr>
          <a:xfrm>
            <a:off x="5886450" y="25336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삼성: 주주환원 / 순이익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36F0C25-4451-4B1C-8E49-A32551A4D968}"/>
              </a:ext>
            </a:extLst>
          </p:cNvPr>
          <p:cNvSpPr>
            <a:spLocks noGrp="1"/>
          </p:cNvSpPr>
          <p:nvPr/>
        </p:nvSpPr>
        <p:spPr>
          <a:xfrm>
            <a:off x="8286750" y="1619250"/>
            <a:ext cx="2428875" cy="142875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C98EB9-B9D6-48B3-A103-B9FE4513943C}"/>
              </a:ext>
            </a:extLst>
          </p:cNvPr>
          <p:cNvSpPr>
            <a:spLocks noGrp="1"/>
          </p:cNvSpPr>
          <p:nvPr/>
        </p:nvSpPr>
        <p:spPr>
          <a:xfrm>
            <a:off x="8477250" y="1790700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95%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49DBFF-6F51-41A8-8A56-B88712FA366C}"/>
              </a:ext>
            </a:extLst>
          </p:cNvPr>
          <p:cNvSpPr>
            <a:spLocks noGrp="1"/>
          </p:cNvSpPr>
          <p:nvPr/>
        </p:nvSpPr>
        <p:spPr>
          <a:xfrm>
            <a:off x="8477250" y="25336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애플: 주주환원 / 순이익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B863DD-490D-4EB6-ADAF-75D3E0994D92}"/>
              </a:ext>
            </a:extLst>
          </p:cNvPr>
          <p:cNvSpPr>
            <a:spLocks noGrp="1"/>
          </p:cNvSpPr>
          <p:nvPr/>
        </p:nvSpPr>
        <p:spPr>
          <a:xfrm>
            <a:off x="514350" y="347662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 주장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458EFD-449C-4973-AD9B-68D881F5D86A}"/>
              </a:ext>
            </a:extLst>
          </p:cNvPr>
          <p:cNvSpPr>
            <a:spLocks noGrp="1"/>
          </p:cNvSpPr>
          <p:nvPr/>
        </p:nvSpPr>
        <p:spPr>
          <a:xfrm>
            <a:off x="514350" y="38862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삼성은 생산의 위험을 안고 자본을 축적한다. 애플은 생산의 위험을 외부화하고 자본을 주주에게 돌려준다.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11CBA5-3B3D-48B7-AF9F-C98183157323}"/>
              </a:ext>
            </a:extLst>
          </p:cNvPr>
          <p:cNvSpPr>
            <a:spLocks noGrp="1"/>
          </p:cNvSpPr>
          <p:nvPr/>
        </p:nvSpPr>
        <p:spPr>
          <a:xfrm>
            <a:off x="514350" y="50482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따라서 “누가 더 잘 경영하는가”보다 “누가 위험을 지고, 누가 이익을 가져가는가”를 물어야 한다.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371703-2A4B-4746-B9CA-299EF1B2075E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2</a:t>
            </a:r>
          </a:p>
        </p:txBody>
      </p:sp>
    </p:spTree>
    <p:extLst>
      <p:ext uri="{BB962C8B-B14F-4D97-AF65-F5344CB8AC3E}">
        <p14:creationId xmlns:p14="http://schemas.microsoft.com/office/powerpoint/2010/main" val="1406832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CEF182-A904-4DFB-8917-CDFDB6931AB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1BFDD1-4B4C-4ED2-9584-E3F581D5C250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삼성은 공장을 소유하고, 애플은 공장을 빌린다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55A184-213C-4796-BAFC-AB612EACDA7D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" name="Chart"/>
          <p:cNvGraphicFramePr/>
          <p:nvPr/>
        </p:nvGraphicFramePr>
        <p:xfrm>
          <a:off x="514350" y="1676400"/>
          <a:ext cx="6381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241A0E9-3D69-4C45-B2F2-F5E887C467A9}"/>
              </a:ext>
            </a:extLst>
          </p:cNvPr>
          <p:cNvSpPr>
            <a:spLocks noGrp="1"/>
          </p:cNvSpPr>
          <p:nvPr/>
        </p:nvSpPr>
        <p:spPr>
          <a:xfrm>
            <a:off x="7334250" y="171450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삼성전자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BDF610-3A89-4E0D-ABB7-F8193C354E97}"/>
              </a:ext>
            </a:extLst>
          </p:cNvPr>
          <p:cNvSpPr>
            <a:spLocks noGrp="1"/>
          </p:cNvSpPr>
          <p:nvPr/>
        </p:nvSpPr>
        <p:spPr>
          <a:xfrm>
            <a:off x="7334250" y="2076450"/>
            <a:ext cx="3905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2025년 유형자산 215.3조 원, 설비투자 52.7조 원. 반도체 라인의 물리적 위험을 직접 진다.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2DD599-6761-4DDF-8039-D414A2C9FB86}"/>
              </a:ext>
            </a:extLst>
          </p:cNvPr>
          <p:cNvSpPr>
            <a:spLocks noGrp="1"/>
          </p:cNvSpPr>
          <p:nvPr/>
        </p:nvSpPr>
        <p:spPr>
          <a:xfrm>
            <a:off x="7334250" y="314325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AB68E1-2359-45D3-B123-4867B54D4E34}"/>
              </a:ext>
            </a:extLst>
          </p:cNvPr>
          <p:cNvSpPr>
            <a:spLocks noGrp="1"/>
          </p:cNvSpPr>
          <p:nvPr/>
        </p:nvSpPr>
        <p:spPr>
          <a:xfrm>
            <a:off x="7334250" y="3505200"/>
            <a:ext cx="3905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설비투자는 매출의 3.1%. 생산 위험은 TSMC·폭스콘 등 공급망이 부담한다.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C1B7D0-E319-4A3B-AD05-1FD21C505333}"/>
              </a:ext>
            </a:extLst>
          </p:cNvPr>
          <p:cNvSpPr>
            <a:spLocks noGrp="1"/>
          </p:cNvSpPr>
          <p:nvPr/>
        </p:nvSpPr>
        <p:spPr>
          <a:xfrm>
            <a:off x="7334250" y="4857750"/>
            <a:ext cx="390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486"/>
          </a:bodyPr>
          <a:lstStyle/>
          <a:p>
            <a:pPr algn="l">
              <a:defRPr sz="18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같은 시장의 경쟁자지만 위험의 위치가 다르다.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C25213-E5C4-41B5-B09C-AAF00B3031EE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3</a:t>
            </a:r>
          </a:p>
        </p:txBody>
      </p:sp>
    </p:spTree>
    <p:extLst>
      <p:ext uri="{BB962C8B-B14F-4D97-AF65-F5344CB8AC3E}">
        <p14:creationId xmlns:p14="http://schemas.microsoft.com/office/powerpoint/2010/main" val="193631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ED0C76-DE23-4D43-A269-A40516D8B16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FBFB07-6069-408E-B36F-E0E446E00087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삼성은 영업이익만큼 감가상각비를 부담하며 경쟁한다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D5C917-7815-4E8C-B2D8-1F481A4CFDBB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3AB9620-8CC0-4723-9045-2E791283ED9F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5C4855-6206-4303-B59B-17CFD75DAB16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43.6조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40FB1B-2676-4FA2-AB5C-A701001C6F1F}"/>
              </a:ext>
            </a:extLst>
          </p:cNvPr>
          <p:cNvSpPr>
            <a:spLocks noGrp="1"/>
          </p:cNvSpPr>
          <p:nvPr/>
        </p:nvSpPr>
        <p:spPr>
          <a:xfrm>
            <a:off x="704850" y="26289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2025년 영업이익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01A387-742C-40B5-9F1C-DAA2AA4CF0B9}"/>
              </a:ext>
            </a:extLst>
          </p:cNvPr>
          <p:cNvSpPr>
            <a:spLocks noGrp="1"/>
          </p:cNvSpPr>
          <p:nvPr/>
        </p:nvSpPr>
        <p:spPr>
          <a:xfrm>
            <a:off x="4000500" y="171450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F4C349-E3FC-4E0C-A2DE-8F9056318F4A}"/>
              </a:ext>
            </a:extLst>
          </p:cNvPr>
          <p:cNvSpPr>
            <a:spLocks noGrp="1"/>
          </p:cNvSpPr>
          <p:nvPr/>
        </p:nvSpPr>
        <p:spPr>
          <a:xfrm>
            <a:off x="4191000" y="18859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43.6조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2AE4AF-C68C-4C8A-BAC2-142D9063A794}"/>
              </a:ext>
            </a:extLst>
          </p:cNvPr>
          <p:cNvSpPr>
            <a:spLocks noGrp="1"/>
          </p:cNvSpPr>
          <p:nvPr/>
        </p:nvSpPr>
        <p:spPr>
          <a:xfrm>
            <a:off x="4191000" y="26289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2025년 감가상각비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5C23328-27BC-48D6-B491-AB98DE3A70D4}"/>
              </a:ext>
            </a:extLst>
          </p:cNvPr>
          <p:cNvSpPr>
            <a:spLocks noGrp="1"/>
          </p:cNvSpPr>
          <p:nvPr/>
        </p:nvSpPr>
        <p:spPr>
          <a:xfrm>
            <a:off x="7486650" y="1714500"/>
            <a:ext cx="3752850" cy="142875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5B7B08-6788-42A5-A4EC-BBF78857C5BD}"/>
              </a:ext>
            </a:extLst>
          </p:cNvPr>
          <p:cNvSpPr>
            <a:spLocks noGrp="1"/>
          </p:cNvSpPr>
          <p:nvPr/>
        </p:nvSpPr>
        <p:spPr>
          <a:xfrm>
            <a:off x="7677150" y="1885950"/>
            <a:ext cx="33718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3~4년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D47832-D280-4546-89D4-2C7383FBE1DC}"/>
              </a:ext>
            </a:extLst>
          </p:cNvPr>
          <p:cNvSpPr>
            <a:spLocks noGrp="1"/>
          </p:cNvSpPr>
          <p:nvPr/>
        </p:nvSpPr>
        <p:spPr>
          <a:xfrm>
            <a:off x="7677150" y="2628900"/>
            <a:ext cx="3371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반도체 재투자 주기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4EE969-532D-453B-A6F8-04A829AFE352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107251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성공한 투자도 감가상각으로, 실패한 투자는 손상차손으로 돌아온다.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587F825-4728-47DD-8667-8DD45B541E31}"/>
              </a:ext>
            </a:extLst>
          </p:cNvPr>
          <p:cNvSpPr>
            <a:spLocks noGrp="1"/>
          </p:cNvSpPr>
          <p:nvPr/>
        </p:nvSpPr>
        <p:spPr>
          <a:xfrm>
            <a:off x="514350" y="4667250"/>
            <a:ext cx="10725150" cy="10668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220BC9-EDF9-4493-8413-BBAC5A5E78DA}"/>
              </a:ext>
            </a:extLst>
          </p:cNvPr>
          <p:cNvSpPr>
            <a:spLocks noGrp="1"/>
          </p:cNvSpPr>
          <p:nvPr/>
        </p:nvSpPr>
        <p:spPr>
          <a:xfrm>
            <a:off x="762000" y="4876800"/>
            <a:ext cx="10239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애플은 이 게임을 하지 않는다. 삼성의 제조 역량은 강점이지만, 동시에 매년 다시 증명해야 하는 무거운 약속이다.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3E8CB1-5AEE-4987-87DA-2579BCB281F1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4</a:t>
            </a:r>
          </a:p>
        </p:txBody>
      </p:sp>
    </p:spTree>
    <p:extLst>
      <p:ext uri="{BB962C8B-B14F-4D97-AF65-F5344CB8AC3E}">
        <p14:creationId xmlns:p14="http://schemas.microsoft.com/office/powerpoint/2010/main" val="2062532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1CE6E6-1E72-4C83-8259-2ADAB168FCE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828F4C-2F2A-4084-BBE6-106BAC163D77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애플은 같은 설비로 삼성보다 5배 넘는 매출을 만든다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9BBA2E-0459-4145-A79B-AF39059A2922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" name="Chart"/>
          <p:cNvGraphicFramePr/>
          <p:nvPr/>
        </p:nvGraphicFramePr>
        <p:xfrm>
          <a:off x="514350" y="1676400"/>
          <a:ext cx="6191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276D631-2AF4-4C89-A082-9FB104C85368}"/>
              </a:ext>
            </a:extLst>
          </p:cNvPr>
          <p:cNvSpPr>
            <a:spLocks noGrp="1"/>
          </p:cNvSpPr>
          <p:nvPr/>
        </p:nvSpPr>
        <p:spPr>
          <a:xfrm>
            <a:off x="7429500" y="1952625"/>
            <a:ext cx="3333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2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8.35회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40A503-6D88-4BF7-AC55-71A2434DC0EC}"/>
              </a:ext>
            </a:extLst>
          </p:cNvPr>
          <p:cNvSpPr>
            <a:spLocks noGrp="1"/>
          </p:cNvSpPr>
          <p:nvPr/>
        </p:nvSpPr>
        <p:spPr>
          <a:xfrm>
            <a:off x="7429500" y="28003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애플의 유형자산회전율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A46DDA-58CC-4667-8E11-4BC7D8465176}"/>
              </a:ext>
            </a:extLst>
          </p:cNvPr>
          <p:cNvSpPr>
            <a:spLocks noGrp="1"/>
          </p:cNvSpPr>
          <p:nvPr/>
        </p:nvSpPr>
        <p:spPr>
          <a:xfrm>
            <a:off x="7524750" y="3381375"/>
            <a:ext cx="314325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75BF6C-49D8-41D2-9575-4F344DBDDDF3}"/>
              </a:ext>
            </a:extLst>
          </p:cNvPr>
          <p:cNvSpPr>
            <a:spLocks noGrp="1"/>
          </p:cNvSpPr>
          <p:nvPr/>
        </p:nvSpPr>
        <p:spPr>
          <a:xfrm>
            <a:off x="7143750" y="37147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설계 · 소프트웨어 · 브랜드 · 생태계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7E8390-54EF-45FC-9D77-84129B8A013D}"/>
              </a:ext>
            </a:extLst>
          </p:cNvPr>
          <p:cNvSpPr>
            <a:spLocks noGrp="1"/>
          </p:cNvSpPr>
          <p:nvPr/>
        </p:nvSpPr>
        <p:spPr>
          <a:xfrm>
            <a:off x="7143750" y="4305300"/>
            <a:ext cx="3905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장부에 잡히지 않는 무형자산이</a:t>
            </a:r>
          </a:p>
          <a:p>
            <a:pPr algn="ctr">
              <a:defRPr sz="157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물리적 자산의 회전속도를 높인다.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66324F-AB98-42C4-AD5D-0A2FBC934E04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5</a:t>
            </a:r>
          </a:p>
        </p:txBody>
      </p:sp>
    </p:spTree>
    <p:extLst>
      <p:ext uri="{BB962C8B-B14F-4D97-AF65-F5344CB8AC3E}">
        <p14:creationId xmlns:p14="http://schemas.microsoft.com/office/powerpoint/2010/main" val="1759237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D68C6C-466F-415B-8289-06B24122B74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261CAD-1CEE-45AF-A28A-FDB8CF8037E5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애플의 부채비율 387%는 “부채 증가”보다 “자본 축소”의 결과다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3ADC0C-FE86-4006-ABB1-5F62B72E6BA1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D99A5AD-AFAE-4171-8FEA-9D48D590562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5152A7-6BE1-494E-BBC0-7F1A5D6A4ABE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387%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5F18D-F64E-4DBD-9E5C-9DAC8CE4A77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 부채비율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6ABEA23-15CD-4719-A424-00C7647846C8}"/>
              </a:ext>
            </a:extLst>
          </p:cNvPr>
          <p:cNvSpPr>
            <a:spLocks noGrp="1"/>
          </p:cNvSpPr>
          <p:nvPr/>
        </p:nvSpPr>
        <p:spPr>
          <a:xfrm>
            <a:off x="3162300" y="165735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425FD4-D4E1-4C3A-BFCF-BBAC84B00FF7}"/>
              </a:ext>
            </a:extLst>
          </p:cNvPr>
          <p:cNvSpPr>
            <a:spLocks noGrp="1"/>
          </p:cNvSpPr>
          <p:nvPr/>
        </p:nvSpPr>
        <p:spPr>
          <a:xfrm>
            <a:off x="3352800" y="182880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59669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059669"/>
                </a:solidFill>
                <a:latin typeface="Noto Sans KR"/>
                <a:ea typeface="Noto Sans KR"/>
                <a:cs typeface="Noto Sans KR"/>
              </a:rPr>
              <a:t>-71일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639B95-2A1A-4678-B112-4756D1E07D4B}"/>
              </a:ext>
            </a:extLst>
          </p:cNvPr>
          <p:cNvSpPr>
            <a:spLocks noGrp="1"/>
          </p:cNvSpPr>
          <p:nvPr/>
        </p:nvSpPr>
        <p:spPr>
          <a:xfrm>
            <a:off x="3352800" y="25717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현금전환주기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418BB0-F020-40EE-A8CA-70194CD4B77E}"/>
              </a:ext>
            </a:extLst>
          </p:cNvPr>
          <p:cNvSpPr>
            <a:spLocks noGrp="1"/>
          </p:cNvSpPr>
          <p:nvPr/>
        </p:nvSpPr>
        <p:spPr>
          <a:xfrm>
            <a:off x="5810250" y="1657350"/>
            <a:ext cx="2571750" cy="142875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739008-35D2-4D17-BD70-7C6257D172DD}"/>
              </a:ext>
            </a:extLst>
          </p:cNvPr>
          <p:cNvSpPr>
            <a:spLocks noGrp="1"/>
          </p:cNvSpPr>
          <p:nvPr/>
        </p:nvSpPr>
        <p:spPr>
          <a:xfrm>
            <a:off x="6000750" y="1828800"/>
            <a:ext cx="2190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34.6%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30D243-8C28-43F0-8CE7-CAF3BED5CB85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총부채 중 이자부 차입금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C2D81DF-FC1E-4056-BABC-0E54280C99E7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2686050" cy="142875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06B1EF-10D0-4569-B40B-3C2E019135C9}"/>
              </a:ext>
            </a:extLst>
          </p:cNvPr>
          <p:cNvSpPr>
            <a:spLocks noGrp="1"/>
          </p:cNvSpPr>
          <p:nvPr/>
        </p:nvSpPr>
        <p:spPr>
          <a:xfrm>
            <a:off x="8743950" y="1828800"/>
            <a:ext cx="23050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737억$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11BFC5-8059-4BA7-9367-64A9C747E867}"/>
              </a:ext>
            </a:extLst>
          </p:cNvPr>
          <p:cNvSpPr>
            <a:spLocks noGrp="1"/>
          </p:cNvSpPr>
          <p:nvPr/>
        </p:nvSpPr>
        <p:spPr>
          <a:xfrm>
            <a:off x="8743950" y="2571750"/>
            <a:ext cx="2305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2025년 자기자본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3B3C85E-242F-4A0C-8ABA-F5F45DFD8F70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10725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시장지배력은 자금조달 능력이다.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82382EE-B83E-42CD-A602-F31B418BEBC6}"/>
              </a:ext>
            </a:extLst>
          </p:cNvPr>
          <p:cNvSpPr>
            <a:spLocks noGrp="1"/>
          </p:cNvSpPr>
          <p:nvPr/>
        </p:nvSpPr>
        <p:spPr>
          <a:xfrm>
            <a:off x="514350" y="4352925"/>
            <a:ext cx="10725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고객에게 먼저 받고 공급업체에는 나중에 지급한다. 공급망 전체가 애플의 무이자 운전자본이 된다.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AB69A5-9B9D-46FC-AE02-250B9DA40297}"/>
              </a:ext>
            </a:extLst>
          </p:cNvPr>
          <p:cNvSpPr>
            <a:spLocks noGrp="1"/>
          </p:cNvSpPr>
          <p:nvPr/>
        </p:nvSpPr>
        <p:spPr>
          <a:xfrm>
            <a:off x="514350" y="523875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2017~2025년 순이익 6,694억 달러를 벌었지만 자기자본은 603억 달러 감소했다.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F3AEF3-E943-40E3-A036-813E621106A5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6</a:t>
            </a:r>
          </a:p>
        </p:txBody>
      </p:sp>
    </p:spTree>
    <p:extLst>
      <p:ext uri="{BB962C8B-B14F-4D97-AF65-F5344CB8AC3E}">
        <p14:creationId xmlns:p14="http://schemas.microsoft.com/office/powerpoint/2010/main" val="1835182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2C18AE-95D1-4B53-8089-02D3C62B309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56027D-ACEF-40A4-877E-50BB691A7F06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ROE 152% 대 10%—경영능력 15배라는 뜻이 아니다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F25002-9BBD-4BF3-93D7-AD95984514B9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842DA6-B34C-40FC-9928-10A51F97AD74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순이익률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92A356C-3EA9-4F7A-8E08-40FDFCC513C0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72F95F-C28E-4369-9DDC-5A5E097930AC}"/>
              </a:ext>
            </a:extLst>
          </p:cNvPr>
          <p:cNvSpPr>
            <a:spLocks noGrp="1"/>
          </p:cNvSpPr>
          <p:nvPr/>
        </p:nvSpPr>
        <p:spPr>
          <a:xfrm>
            <a:off x="514350" y="2238375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13.6%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C2E8DEF-22E8-44E4-86C8-49FD485A2BC0}"/>
              </a:ext>
            </a:extLst>
          </p:cNvPr>
          <p:cNvSpPr>
            <a:spLocks noGrp="1"/>
          </p:cNvSpPr>
          <p:nvPr/>
        </p:nvSpPr>
        <p:spPr>
          <a:xfrm>
            <a:off x="514350" y="31432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8BCC8F-FBD0-43F6-B1D1-1DFF96C6409F}"/>
              </a:ext>
            </a:extLst>
          </p:cNvPr>
          <p:cNvSpPr>
            <a:spLocks noGrp="1"/>
          </p:cNvSpPr>
          <p:nvPr/>
        </p:nvSpPr>
        <p:spPr>
          <a:xfrm>
            <a:off x="514350" y="3286125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26.9%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6BB58B-702F-4A16-8C1A-277864D744CC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총자산회전율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70AD47F-D2FA-4D9B-B76A-39A527B20F8E}"/>
              </a:ext>
            </a:extLst>
          </p:cNvPr>
          <p:cNvSpPr>
            <a:spLocks noGrp="1"/>
          </p:cNvSpPr>
          <p:nvPr/>
        </p:nvSpPr>
        <p:spPr>
          <a:xfrm>
            <a:off x="3143250" y="209550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E2FBF4-81AC-4DE9-9439-099EEEE61A5F}"/>
              </a:ext>
            </a:extLst>
          </p:cNvPr>
          <p:cNvSpPr>
            <a:spLocks noGrp="1"/>
          </p:cNvSpPr>
          <p:nvPr/>
        </p:nvSpPr>
        <p:spPr>
          <a:xfrm>
            <a:off x="3143250" y="2238375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0.59회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E4DB6DE-A95D-4483-97A7-FDF391118164}"/>
              </a:ext>
            </a:extLst>
          </p:cNvPr>
          <p:cNvSpPr>
            <a:spLocks noGrp="1"/>
          </p:cNvSpPr>
          <p:nvPr/>
        </p:nvSpPr>
        <p:spPr>
          <a:xfrm>
            <a:off x="3143250" y="31432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88314D-37E8-4132-BB4F-F8584F059DDC}"/>
              </a:ext>
            </a:extLst>
          </p:cNvPr>
          <p:cNvSpPr>
            <a:spLocks noGrp="1"/>
          </p:cNvSpPr>
          <p:nvPr/>
        </p:nvSpPr>
        <p:spPr>
          <a:xfrm>
            <a:off x="3143250" y="3286125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1.16회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1161E9-E42D-411E-90A0-F7A3F198663E}"/>
              </a:ext>
            </a:extLst>
          </p:cNvPr>
          <p:cNvSpPr>
            <a:spLocks noGrp="1"/>
          </p:cNvSpPr>
          <p:nvPr/>
        </p:nvSpPr>
        <p:spPr>
          <a:xfrm>
            <a:off x="5772150" y="16192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재무레버리지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5CDB6A9-2F26-4433-B8D2-8A4FCF6C634C}"/>
              </a:ext>
            </a:extLst>
          </p:cNvPr>
          <p:cNvSpPr>
            <a:spLocks noGrp="1"/>
          </p:cNvSpPr>
          <p:nvPr/>
        </p:nvSpPr>
        <p:spPr>
          <a:xfrm>
            <a:off x="5772150" y="209550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07C6EE-2445-4F34-AFA2-81DFE06058A6}"/>
              </a:ext>
            </a:extLst>
          </p:cNvPr>
          <p:cNvSpPr>
            <a:spLocks noGrp="1"/>
          </p:cNvSpPr>
          <p:nvPr/>
        </p:nvSpPr>
        <p:spPr>
          <a:xfrm>
            <a:off x="5772150" y="2238375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1.30배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3D7FDA5-A83D-4DE2-9AAE-C72A093BA481}"/>
              </a:ext>
            </a:extLst>
          </p:cNvPr>
          <p:cNvSpPr>
            <a:spLocks noGrp="1"/>
          </p:cNvSpPr>
          <p:nvPr/>
        </p:nvSpPr>
        <p:spPr>
          <a:xfrm>
            <a:off x="5772150" y="31432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77C2B0-5ECD-4573-9B8C-225ACA3D25D0}"/>
              </a:ext>
            </a:extLst>
          </p:cNvPr>
          <p:cNvSpPr>
            <a:spLocks noGrp="1"/>
          </p:cNvSpPr>
          <p:nvPr/>
        </p:nvSpPr>
        <p:spPr>
          <a:xfrm>
            <a:off x="5772150" y="3286125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4.87배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DAC65CE-8D1A-45F9-B79C-A295CE9592B5}"/>
              </a:ext>
            </a:extLst>
          </p:cNvPr>
          <p:cNvSpPr>
            <a:spLocks noGrp="1"/>
          </p:cNvSpPr>
          <p:nvPr/>
        </p:nvSpPr>
        <p:spPr>
          <a:xfrm>
            <a:off x="8401050" y="16192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ROE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1073D1A-AA74-4D05-8C2C-9F746BA59F5C}"/>
              </a:ext>
            </a:extLst>
          </p:cNvPr>
          <p:cNvSpPr>
            <a:spLocks noGrp="1"/>
          </p:cNvSpPr>
          <p:nvPr/>
        </p:nvSpPr>
        <p:spPr>
          <a:xfrm>
            <a:off x="8401050" y="209550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88FB62-C05D-4F05-8ECA-C31DD68A0156}"/>
              </a:ext>
            </a:extLst>
          </p:cNvPr>
          <p:cNvSpPr>
            <a:spLocks noGrp="1"/>
          </p:cNvSpPr>
          <p:nvPr/>
        </p:nvSpPr>
        <p:spPr>
          <a:xfrm>
            <a:off x="8401050" y="2238375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10.4%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E84FD3A-7036-443E-9584-2990EE3219E9}"/>
              </a:ext>
            </a:extLst>
          </p:cNvPr>
          <p:cNvSpPr>
            <a:spLocks noGrp="1"/>
          </p:cNvSpPr>
          <p:nvPr/>
        </p:nvSpPr>
        <p:spPr>
          <a:xfrm>
            <a:off x="8401050" y="31432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4D38FC-0F16-468B-BFF2-672DD522137C}"/>
              </a:ext>
            </a:extLst>
          </p:cNvPr>
          <p:cNvSpPr>
            <a:spLocks noGrp="1"/>
          </p:cNvSpPr>
          <p:nvPr/>
        </p:nvSpPr>
        <p:spPr>
          <a:xfrm>
            <a:off x="8401050" y="3286125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151.9%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8208E7-1E2E-4E87-ACAF-5752A396EBBD}"/>
              </a:ext>
            </a:extLst>
          </p:cNvPr>
          <p:cNvSpPr>
            <a:spLocks noGrp="1"/>
          </p:cNvSpPr>
          <p:nvPr/>
        </p:nvSpPr>
        <p:spPr>
          <a:xfrm>
            <a:off x="10744200" y="227647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삼성전자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457310-8FA2-48B0-A4C3-F97B88347777}"/>
              </a:ext>
            </a:extLst>
          </p:cNvPr>
          <p:cNvSpPr>
            <a:spLocks noGrp="1"/>
          </p:cNvSpPr>
          <p:nvPr/>
        </p:nvSpPr>
        <p:spPr>
          <a:xfrm>
            <a:off x="10744200" y="332422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125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애플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E5C9F4-8682-4623-AE21-454B7B89522D}"/>
              </a:ext>
            </a:extLst>
          </p:cNvPr>
          <p:cNvSpPr>
            <a:spLocks noGrp="1"/>
          </p:cNvSpPr>
          <p:nvPr/>
        </p:nvSpPr>
        <p:spPr>
          <a:xfrm>
            <a:off x="514350" y="4524375"/>
            <a:ext cx="1026795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952375F-B234-4552-A32A-5998526CCB95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102679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9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애플이 삼성과 같은 1.30배 레버리지를 썼다면 ROE는 40.5%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C5570AA-16F4-4C16-A8C3-1C0DB95580A9}"/>
              </a:ext>
            </a:extLst>
          </p:cNvPr>
          <p:cNvSpPr>
            <a:spLocks noGrp="1"/>
          </p:cNvSpPr>
          <p:nvPr/>
        </p:nvSpPr>
        <p:spPr>
          <a:xfrm>
            <a:off x="514350" y="5314950"/>
            <a:ext cx="10267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애플 ROE의 3분의 2 이상은 사업 그 자체보다 자본구조가 만든다.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6981750-449A-4EAC-BC70-5F5AF0611B3D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7</a:t>
            </a:r>
          </a:p>
        </p:txBody>
      </p:sp>
    </p:spTree>
    <p:extLst>
      <p:ext uri="{BB962C8B-B14F-4D97-AF65-F5344CB8AC3E}">
        <p14:creationId xmlns:p14="http://schemas.microsoft.com/office/powerpoint/2010/main" val="340996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6529CAD4-FD7B-407C-93EE-271EF9B6E35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C4193A-D454-44A4-A070-30F119D7CC87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삼성의 두꺼운 자기자본은 비효율이 아니라 생존 장치이기도 하다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4E4C93-6E81-43C5-8087-697B29CA4202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6477C4-7A5B-464E-BCAC-767F8EE538AF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2023 반도체 한파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B4087C-B4ED-4AC9-B6EB-8D071CC079A0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F7A51E-9743-4BE3-9253-16C32251D768}"/>
              </a:ext>
            </a:extLst>
          </p:cNvPr>
          <p:cNvSpPr>
            <a:spLocks noGrp="1"/>
          </p:cNvSpPr>
          <p:nvPr/>
        </p:nvSpPr>
        <p:spPr>
          <a:xfrm>
            <a:off x="704850" y="2314575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-14.9조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1336D0-D19A-4C27-905C-6E2B22F778D1}"/>
              </a:ext>
            </a:extLst>
          </p:cNvPr>
          <p:cNvSpPr>
            <a:spLocks noGrp="1"/>
          </p:cNvSpPr>
          <p:nvPr/>
        </p:nvSpPr>
        <p:spPr>
          <a:xfrm>
            <a:off x="704850" y="30575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반도체 부문 적자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398CEED-2F52-4AB2-B926-4CD71EDD3EBA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DBC68E-7731-4572-B5F3-FE99785DD7D4}"/>
              </a:ext>
            </a:extLst>
          </p:cNvPr>
          <p:cNvSpPr>
            <a:spLocks noGrp="1"/>
          </p:cNvSpPr>
          <p:nvPr/>
        </p:nvSpPr>
        <p:spPr>
          <a:xfrm>
            <a:off x="4191000" y="2314575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81.4조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F5A62D3-F6B9-4723-AC2A-1F5753F49487}"/>
              </a:ext>
            </a:extLst>
          </p:cNvPr>
          <p:cNvSpPr>
            <a:spLocks noGrp="1"/>
          </p:cNvSpPr>
          <p:nvPr/>
        </p:nvSpPr>
        <p:spPr>
          <a:xfrm>
            <a:off x="4191000" y="30575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시설투자 + R&amp;D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24D2F6E-5758-4166-9EBF-33759F8FDA09}"/>
              </a:ext>
            </a:extLst>
          </p:cNvPr>
          <p:cNvSpPr>
            <a:spLocks noGrp="1"/>
          </p:cNvSpPr>
          <p:nvPr/>
        </p:nvSpPr>
        <p:spPr>
          <a:xfrm>
            <a:off x="7486650" y="2143125"/>
            <a:ext cx="3752850" cy="142875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71BA93-121E-48D7-AEF6-BA2BF0D69E39}"/>
              </a:ext>
            </a:extLst>
          </p:cNvPr>
          <p:cNvSpPr>
            <a:spLocks noGrp="1"/>
          </p:cNvSpPr>
          <p:nvPr/>
        </p:nvSpPr>
        <p:spPr>
          <a:xfrm>
            <a:off x="7677150" y="2314575"/>
            <a:ext cx="33718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12배+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4E0286-1CFD-4425-9988-40815974713F}"/>
              </a:ext>
            </a:extLst>
          </p:cNvPr>
          <p:cNvSpPr>
            <a:spLocks noGrp="1"/>
          </p:cNvSpPr>
          <p:nvPr/>
        </p:nvSpPr>
        <p:spPr>
          <a:xfrm>
            <a:off x="7677150" y="3057525"/>
            <a:ext cx="3371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연결 영업이익 대비 투자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773172-D7A3-4446-8023-38F50BE2E062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10725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투자를 멈추지 않은 힘은 436.3조 원의 자기자본과 402.1조 원의 이익잉여금이었다.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48AC58-CA53-4D68-BE6D-D3C13E18B85E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10725150" cy="800100"/>
          </a:xfrm>
          <a:prstGeom prst="roundRect">
            <a:avLst>
              <a:gd name="adj" fmla="val 9524"/>
            </a:avLst>
          </a:prstGeom>
          <a:solidFill>
            <a:srgbClr val="0F172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8AFA7E2-A186-42B6-BC64-F47206D4029A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10239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공장을 가진 기업은 충격을 피할 수 없기에, 충격을 견딜 자본을 쌓는다.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36A74F-4FAE-486B-B860-FAA8BAD4F2DB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8</a:t>
            </a:r>
          </a:p>
        </p:txBody>
      </p:sp>
    </p:spTree>
    <p:extLst>
      <p:ext uri="{BB962C8B-B14F-4D97-AF65-F5344CB8AC3E}">
        <p14:creationId xmlns:p14="http://schemas.microsoft.com/office/powerpoint/2010/main" val="196248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5DEADE-A63A-4777-94A9-E94329F9A48A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17C5DD-49CF-4FF2-A4BE-F95BFF76C92D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애플은 자본을 소각하고, 삼성은 미래 투자를 유보한다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4B4292-5832-4203-B135-39BFD5FB67C8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514350" y="1666875"/>
          <a:ext cx="59055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A05FB27-14B9-43C7-A76C-B08FC76B8778}"/>
              </a:ext>
            </a:extLst>
          </p:cNvPr>
          <p:cNvSpPr>
            <a:spLocks noGrp="1"/>
          </p:cNvSpPr>
          <p:nvPr/>
        </p:nvSpPr>
        <p:spPr>
          <a:xfrm>
            <a:off x="6953250" y="1714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BB9519-6EF7-4147-B0AC-EC9E1FA00C7C}"/>
              </a:ext>
            </a:extLst>
          </p:cNvPr>
          <p:cNvSpPr>
            <a:spLocks noGrp="1"/>
          </p:cNvSpPr>
          <p:nvPr/>
        </p:nvSpPr>
        <p:spPr>
          <a:xfrm>
            <a:off x="6953250" y="207645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2025년 자사주 매입 907억 달러 + 배당 154억 달러. 2013년 이후 누적 자사주 매입 8,163억 달러.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26EDE1-8E50-4808-92A2-B6CC146DA59E}"/>
              </a:ext>
            </a:extLst>
          </p:cNvPr>
          <p:cNvSpPr>
            <a:spLocks noGrp="1"/>
          </p:cNvSpPr>
          <p:nvPr/>
        </p:nvSpPr>
        <p:spPr>
          <a:xfrm>
            <a:off x="6953250" y="3190875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발행주식수 -44%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98005C-95F5-447F-8143-2BE2F5A45AF7}"/>
              </a:ext>
            </a:extLst>
          </p:cNvPr>
          <p:cNvSpPr>
            <a:spLocks noGrp="1"/>
          </p:cNvSpPr>
          <p:nvPr/>
        </p:nvSpPr>
        <p:spPr>
          <a:xfrm>
            <a:off x="6953250" y="3552825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자사주를 소각해 순이익이 같아도 EPS가 상승하는 구조를 만든다.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CC4A3-54C3-4B08-8A41-4954F3446796}"/>
              </a:ext>
            </a:extLst>
          </p:cNvPr>
          <p:cNvSpPr>
            <a:spLocks noGrp="1"/>
          </p:cNvSpPr>
          <p:nvPr/>
        </p:nvSpPr>
        <p:spPr>
          <a:xfrm>
            <a:off x="6953250" y="44767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삼성전자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B961F0-2115-42EB-8F3C-C62F93478457}"/>
              </a:ext>
            </a:extLst>
          </p:cNvPr>
          <p:cNvSpPr>
            <a:spLocks noGrp="1"/>
          </p:cNvSpPr>
          <p:nvPr/>
        </p:nvSpPr>
        <p:spPr>
          <a:xfrm>
            <a:off x="6953250" y="483870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2025년 주주환원 18.1조 원. 남은 이익은 수십 조 원이 필요한 차세대 생산라인의 종자돈이 된다.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5E84E2-CD12-40AD-A257-525B58B4FB07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9</a:t>
            </a:r>
          </a:p>
        </p:txBody>
      </p:sp>
    </p:spTree>
    <p:extLst>
      <p:ext uri="{BB962C8B-B14F-4D97-AF65-F5344CB8AC3E}">
        <p14:creationId xmlns:p14="http://schemas.microsoft.com/office/powerpoint/2010/main" val="1452176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7F0764-0038-40E4-9986-072495803DAA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PEOPLE FIRST × CAPITAL ALLOCATION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0EEC66-7042-429F-A530-99FBA5CDD63F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People First 관점: 누구의 위험이고, 누구의 보상인가?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AC8DC6-DB97-42D7-AF26-3423A28DD3D5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798BBFB-3C85-46C6-BE6E-9994D344DA71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3333750" cy="3905250"/>
          </a:xfrm>
          <a:prstGeom prst="roundRect">
            <a:avLst>
              <a:gd name="adj" fmla="val 2286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F81C182-A7F1-46C6-9EAD-AC45B6177C90}"/>
              </a:ext>
            </a:extLst>
          </p:cNvPr>
          <p:cNvSpPr>
            <a:spLocks noGrp="1"/>
          </p:cNvSpPr>
          <p:nvPr/>
        </p:nvSpPr>
        <p:spPr>
          <a:xfrm>
            <a:off x="4429125" y="1619250"/>
            <a:ext cx="3333750" cy="3905250"/>
          </a:xfrm>
          <a:prstGeom prst="roundRect">
            <a:avLst>
              <a:gd name="adj" fmla="val 2286"/>
            </a:avLst>
          </a:prstGeom>
          <a:solidFill>
            <a:srgbClr val="FEE2E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CBFE28A-938B-44E7-B523-2344CE441A14}"/>
              </a:ext>
            </a:extLst>
          </p:cNvPr>
          <p:cNvSpPr>
            <a:spLocks noGrp="1"/>
          </p:cNvSpPr>
          <p:nvPr/>
        </p:nvSpPr>
        <p:spPr>
          <a:xfrm>
            <a:off x="8343900" y="1619250"/>
            <a:ext cx="2895600" cy="3905250"/>
          </a:xfrm>
          <a:prstGeom prst="roundRect">
            <a:avLst>
              <a:gd name="adj" fmla="val 2632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D8F025-34AD-4254-BDC6-FEC5DE3CDD94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2800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노동과 공급망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16FB8F-FD88-475A-AB7B-1BA60C8E0ED5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28003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삼성·TSMC·폭스콘의</a:t>
            </a:r>
          </a:p>
          <a:p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현장과 설비가 물리적 위험을 부담한다.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03C8A8-B811-4285-BDA6-897E62C847F6}"/>
              </a:ext>
            </a:extLst>
          </p:cNvPr>
          <p:cNvSpPr>
            <a:spLocks noGrp="1"/>
          </p:cNvSpPr>
          <p:nvPr/>
        </p:nvSpPr>
        <p:spPr>
          <a:xfrm>
            <a:off x="4695825" y="1952625"/>
            <a:ext cx="2800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주주와 자본시장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E7DD6C-A1B5-41A5-8E16-E6B6F07228FE}"/>
              </a:ext>
            </a:extLst>
          </p:cNvPr>
          <p:cNvSpPr>
            <a:spLocks noGrp="1"/>
          </p:cNvSpPr>
          <p:nvPr/>
        </p:nvSpPr>
        <p:spPr>
          <a:xfrm>
            <a:off x="4695825" y="2667000"/>
            <a:ext cx="28003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애플의 자본효율과 소각은</a:t>
            </a:r>
          </a:p>
          <a:p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주주가치를 극대화한다.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68B413-927F-4627-9CC0-553F66BD0538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2438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5966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59669"/>
                </a:solidFill>
                <a:latin typeface="Noto Sans KR"/>
                <a:ea typeface="Noto Sans KR"/>
                <a:cs typeface="Noto Sans KR"/>
              </a:rPr>
              <a:t>경영의 과제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C2CE4E-E36B-4EC0-969A-2B1F88316FE0}"/>
              </a:ext>
            </a:extLst>
          </p:cNvPr>
          <p:cNvSpPr>
            <a:spLocks noGrp="1"/>
          </p:cNvSpPr>
          <p:nvPr/>
        </p:nvSpPr>
        <p:spPr>
          <a:xfrm>
            <a:off x="8572500" y="2590800"/>
            <a:ext cx="24384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위험·성과·보상이</a:t>
            </a:r>
          </a:p>
          <a:p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사람과 생태계에 공정하게</a:t>
            </a:r>
          </a:p>
          <a:p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연결되는가?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58814F-56DA-4448-AB3D-B6C690207468}"/>
              </a:ext>
            </a:extLst>
          </p:cNvPr>
          <p:cNvSpPr>
            <a:spLocks noGrp="1"/>
          </p:cNvSpPr>
          <p:nvPr/>
        </p:nvSpPr>
        <p:spPr>
          <a:xfrm>
            <a:off x="857250" y="4619625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“주주환원 vs 투자”의 이분법을 넘어, 이해관계자 전체의 지속가능성을 묻는다.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C04719-D43D-4841-85B8-36C717277FF4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10</a:t>
            </a:r>
          </a:p>
        </p:txBody>
      </p:sp>
    </p:spTree>
    <p:extLst>
      <p:ext uri="{BB962C8B-B14F-4D97-AF65-F5344CB8AC3E}">
        <p14:creationId xmlns:p14="http://schemas.microsoft.com/office/powerpoint/2010/main" val="1134262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4FF378-77B2-4E44-B994-186033669B3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2176AF-6EC9-4DA8-9940-D3F8E9C7F1D1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AI 시대, 두 자본주의는 서로를 향해 움직이기 시작했다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4D1C2D-6F13-47D9-8C73-2C8CC3C88143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AD9B19-B4F4-420A-A3AF-16AD653DF575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삼성 → 자본규율 강화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8676DB-638C-4844-A0F6-B15E79B22DE6}"/>
              </a:ext>
            </a:extLst>
          </p:cNvPr>
          <p:cNvSpPr>
            <a:spLocks noGrp="1"/>
          </p:cNvSpPr>
          <p:nvPr/>
        </p:nvSpPr>
        <p:spPr>
          <a:xfrm>
            <a:off x="514350" y="2333625"/>
            <a:ext cx="4857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자사주 소각 의무화</a:t>
            </a:r>
          </a:p>
          <a:p>
            <a:pPr algn="l">
              <a:def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2026년 약 14.6조 원 규모 소각</a:t>
            </a:r>
          </a:p>
          <a:p>
            <a:pPr algn="l">
              <a:def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성과급 일부를 자사주로 지급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60BFCE-A5B9-4904-B9E2-5029C3F5AD5A}"/>
              </a:ext>
            </a:extLst>
          </p:cNvPr>
          <p:cNvSpPr>
            <a:spLocks noGrp="1"/>
          </p:cNvSpPr>
          <p:nvPr/>
        </p:nvSpPr>
        <p:spPr>
          <a:xfrm>
            <a:off x="6819900" y="169545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애플 → 물리적 기반 강화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EDF13-D5ED-4964-AFCD-49D933336D23}"/>
              </a:ext>
            </a:extLst>
          </p:cNvPr>
          <p:cNvSpPr>
            <a:spLocks noGrp="1"/>
          </p:cNvSpPr>
          <p:nvPr/>
        </p:nvSpPr>
        <p:spPr>
          <a:xfrm>
            <a:off x="6819900" y="2333625"/>
            <a:ext cx="4857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첨단제조기금 확대</a:t>
            </a:r>
          </a:p>
          <a:p>
            <a:pPr algn="l">
              <a:def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공급업체 설비에 선지급·우회 투자</a:t>
            </a:r>
          </a:p>
          <a:p>
            <a:pPr algn="l">
              <a:def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AI 서버칩과 첨단공정 확보 경쟁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D2C0BAD-5AA6-491B-8937-C9ACE80F292A}"/>
              </a:ext>
            </a:extLst>
          </p:cNvPr>
          <p:cNvSpPr>
            <a:spLocks noGrp="1"/>
          </p:cNvSpPr>
          <p:nvPr/>
        </p:nvSpPr>
        <p:spPr>
          <a:xfrm>
            <a:off x="5657850" y="1952625"/>
            <a:ext cx="876300" cy="180975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2AFE5B-D602-4153-9472-5E065120EFA4}"/>
              </a:ext>
            </a:extLst>
          </p:cNvPr>
          <p:cNvSpPr>
            <a:spLocks noGrp="1"/>
          </p:cNvSpPr>
          <p:nvPr/>
        </p:nvSpPr>
        <p:spPr>
          <a:xfrm>
            <a:off x="5657850" y="2324100"/>
            <a:ext cx="8763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</a:t>
            </a:r>
          </a:p>
          <a:p>
            <a:pPr algn="ctr">
              <a:defRPr sz="26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141B973-3C64-4449-AFE2-59CF7B4778E3}"/>
              </a:ext>
            </a:extLst>
          </p:cNvPr>
          <p:cNvSpPr>
            <a:spLocks noGrp="1"/>
          </p:cNvSpPr>
          <p:nvPr/>
        </p:nvSpPr>
        <p:spPr>
          <a:xfrm>
            <a:off x="514350" y="4238625"/>
            <a:ext cx="11163300" cy="10668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32814D-0CA9-4F51-8FE8-500FBF33307A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애플은 “공장 없는 전략”의 한계를, 삼성은 “자본 축적 전략”의 규율 부족을 보완하고 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317A07-FEAB-4593-BF39-8C9EBB35335F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11</a:t>
            </a:r>
          </a:p>
        </p:txBody>
      </p:sp>
    </p:spTree>
    <p:extLst>
      <p:ext uri="{BB962C8B-B14F-4D97-AF65-F5344CB8AC3E}">
        <p14:creationId xmlns:p14="http://schemas.microsoft.com/office/powerpoint/2010/main" val="1851854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FAAD78-390F-4241-AFAC-6B2CE447E48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SAMSUNG × APPLE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9E9AF1-977C-48C8-A5AE-CCED8BE48D3F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11144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결론: 삼성은 애플을 복제해서가 아니라, 자기 강점을 재설계해야 이긴다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C43035-4686-4C20-B695-3E8083B8F341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B665CF-EDDE-4793-9A19-3A55049FF02D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8FFD8E-1FE6-45B1-9C1F-D428854B5C4D}"/>
              </a:ext>
            </a:extLst>
          </p:cNvPr>
          <p:cNvSpPr>
            <a:spLocks noGrp="1"/>
          </p:cNvSpPr>
          <p:nvPr/>
        </p:nvSpPr>
        <p:spPr>
          <a:xfrm>
            <a:off x="1333500" y="163830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제조를 비용이 아닌 전략자산으로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454235-9B9F-4A5D-BF95-3224C03D8805}"/>
              </a:ext>
            </a:extLst>
          </p:cNvPr>
          <p:cNvSpPr>
            <a:spLocks noGrp="1"/>
          </p:cNvSpPr>
          <p:nvPr/>
        </p:nvSpPr>
        <p:spPr>
          <a:xfrm>
            <a:off x="5715000" y="1638300"/>
            <a:ext cx="552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공장과 공급망이 만드는 희소성과 회복력을 시장 언어로 설명한다.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B69335-19D1-46E6-A1F4-F95776F344D0}"/>
              </a:ext>
            </a:extLst>
          </p:cNvPr>
          <p:cNvSpPr>
            <a:spLocks noGrp="1"/>
          </p:cNvSpPr>
          <p:nvPr/>
        </p:nvSpPr>
        <p:spPr>
          <a:xfrm>
            <a:off x="1333500" y="2381250"/>
            <a:ext cx="99060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1EA18FC-BA9F-4EF6-86DC-2E75E1DE796D}"/>
              </a:ext>
            </a:extLst>
          </p:cNvPr>
          <p:cNvSpPr>
            <a:spLocks noGrp="1"/>
          </p:cNvSpPr>
          <p:nvPr/>
        </p:nvSpPr>
        <p:spPr>
          <a:xfrm>
            <a:off x="514350" y="271462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E59498-9E58-4948-8BA4-4C3F7D46A142}"/>
              </a:ext>
            </a:extLst>
          </p:cNvPr>
          <p:cNvSpPr>
            <a:spLocks noGrp="1"/>
          </p:cNvSpPr>
          <p:nvPr/>
        </p:nvSpPr>
        <p:spPr>
          <a:xfrm>
            <a:off x="1333500" y="271462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자본 축적에 명확한 수익률 규율을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0DEC7F-D9E0-4E8F-A9C4-EE776520B588}"/>
              </a:ext>
            </a:extLst>
          </p:cNvPr>
          <p:cNvSpPr>
            <a:spLocks noGrp="1"/>
          </p:cNvSpPr>
          <p:nvPr/>
        </p:nvSpPr>
        <p:spPr>
          <a:xfrm>
            <a:off x="5715000" y="2714625"/>
            <a:ext cx="552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왜 자본을 보유하는지, 어디에 쓰고 어떤 수익을 낼지 검증받는다.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62E7C8-C477-4D86-9AB4-E45CE0B51ABF}"/>
              </a:ext>
            </a:extLst>
          </p:cNvPr>
          <p:cNvSpPr>
            <a:spLocks noGrp="1"/>
          </p:cNvSpPr>
          <p:nvPr/>
        </p:nvSpPr>
        <p:spPr>
          <a:xfrm>
            <a:off x="1333500" y="3457575"/>
            <a:ext cx="99060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61973E-E402-4EFD-A1EA-1DC9E2CDD966}"/>
              </a:ext>
            </a:extLst>
          </p:cNvPr>
          <p:cNvSpPr>
            <a:spLocks noGrp="1"/>
          </p:cNvSpPr>
          <p:nvPr/>
        </p:nvSpPr>
        <p:spPr>
          <a:xfrm>
            <a:off x="514350" y="37909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1C5772-F954-4134-A7E3-BE9520823C67}"/>
              </a:ext>
            </a:extLst>
          </p:cNvPr>
          <p:cNvSpPr>
            <a:spLocks noGrp="1"/>
          </p:cNvSpPr>
          <p:nvPr/>
        </p:nvSpPr>
        <p:spPr>
          <a:xfrm>
            <a:off x="1333500" y="379095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기술·브랜드·서비스를 하나의 생태계로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2D72F8-1249-4D2A-A246-7402EAF57BEA}"/>
              </a:ext>
            </a:extLst>
          </p:cNvPr>
          <p:cNvSpPr>
            <a:spLocks noGrp="1"/>
          </p:cNvSpPr>
          <p:nvPr/>
        </p:nvSpPr>
        <p:spPr>
          <a:xfrm>
            <a:off x="5715000" y="3790950"/>
            <a:ext cx="552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무형자산이 유형자산의 회전율을 높이는 구조를 만든다.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55EA91-637A-4262-9A7D-70E28AAA173E}"/>
              </a:ext>
            </a:extLst>
          </p:cNvPr>
          <p:cNvSpPr>
            <a:spLocks noGrp="1"/>
          </p:cNvSpPr>
          <p:nvPr/>
        </p:nvSpPr>
        <p:spPr>
          <a:xfrm>
            <a:off x="1333500" y="4533900"/>
            <a:ext cx="99060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0508E0-98CF-4C6E-A4B2-E6EBDEF933B2}"/>
              </a:ext>
            </a:extLst>
          </p:cNvPr>
          <p:cNvSpPr>
            <a:spLocks noGrp="1"/>
          </p:cNvSpPr>
          <p:nvPr/>
        </p:nvSpPr>
        <p:spPr>
          <a:xfrm>
            <a:off x="514350" y="48672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3A06DE-37DB-455A-8B2E-0031E92C8FBA}"/>
              </a:ext>
            </a:extLst>
          </p:cNvPr>
          <p:cNvSpPr>
            <a:spLocks noGrp="1"/>
          </p:cNvSpPr>
          <p:nvPr/>
        </p:nvSpPr>
        <p:spPr>
          <a:xfrm>
            <a:off x="1333500" y="4867275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성과와 보상을 사람에게 연결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4F6551-BEC5-48CF-846C-8BD174EBA60B}"/>
              </a:ext>
            </a:extLst>
          </p:cNvPr>
          <p:cNvSpPr>
            <a:spLocks noGrp="1"/>
          </p:cNvSpPr>
          <p:nvPr/>
        </p:nvSpPr>
        <p:spPr>
          <a:xfrm>
            <a:off x="5715000" y="4867275"/>
            <a:ext cx="552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주주·임직원·협력사·고객이 함께 성장하는 People First 회로를 설계한다.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6AA064-92B5-4EB0-9A70-B396039A8E71}"/>
              </a:ext>
            </a:extLst>
          </p:cNvPr>
          <p:cNvSpPr>
            <a:spLocks noGrp="1"/>
          </p:cNvSpPr>
          <p:nvPr/>
        </p:nvSpPr>
        <p:spPr>
          <a:xfrm>
            <a:off x="514350" y="5924550"/>
            <a:ext cx="10725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메타 질문: 우리가 “애플을 이긴다”고 말할 때, 정말 이기고 싶은 것은 무엇인가?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40D88EF-962A-4279-B898-2BB3C65A6597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11163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안영찬 교수 강의 보강자료  |  12</a:t>
            </a:r>
          </a:p>
        </p:txBody>
      </p:sp>
    </p:spTree>
    <p:extLst>
      <p:ext uri="{BB962C8B-B14F-4D97-AF65-F5344CB8AC3E}">
        <p14:creationId xmlns:p14="http://schemas.microsoft.com/office/powerpoint/2010/main" val="11575106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Office PowerPoint</Application>
  <DocSecurity>0</DocSecurity>
  <PresentationFormat>와이드스크린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안영찬/경영전문대학원</cp:lastModifiedBy>
  <cp:revision>1</cp:revision>
  <dcterms:created xsi:type="dcterms:W3CDTF">2026-08-28T07:07:21Z</dcterms:created>
  <dcterms:modified xsi:type="dcterms:W3CDTF">2026-09-05T11:39:49Z</dcterms:modified>
</cp:coreProperties>
</file>